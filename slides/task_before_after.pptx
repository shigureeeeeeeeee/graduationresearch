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F649A7-8E4B-675F-1014-C29767278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111B7D7-E885-89FC-C3E2-C3FD8AC354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53C7ED-5B97-4BD7-E3D6-27CF06D7C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64AC-9C14-4B53-8128-D05AE0A0B242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8364CD-6A73-B2BA-BBFA-889E4079C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0CB8F9-F3B1-ECF6-A8C2-666C7380E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C87C-F71B-4801-838E-533730621E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8172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ECFC64-9217-2D30-15FE-7ABF09BBB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88A4925-60EA-0BCA-3B8D-ADF026238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311BC0-25AB-DB28-5731-F32F2BA91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64AC-9C14-4B53-8128-D05AE0A0B242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7767C5-6BEB-1599-6CD4-2C73D70CD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065883-1E96-F019-E5B6-64E549808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C87C-F71B-4801-838E-533730621E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2418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E41901-804C-9160-8F4A-1169D49A8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12B5033-0125-260A-CFBE-C262FC989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7390D0-9F48-F293-83A7-216CF3109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64AC-9C14-4B53-8128-D05AE0A0B242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F01ADD-4891-AD3F-0266-6E7476C94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07C980-1425-3D9F-6B43-C25DE1DB6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C87C-F71B-4801-838E-533730621E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4893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6B69A8-34F5-4D57-8312-DBDCE56EE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ABD7DE-0B6E-EBBF-F8C5-1063CB7D88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5527F05-0742-E6E5-28B2-D8EE9C3E9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5D4213A-D438-6ECA-C4CE-9B7C6136F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64AC-9C14-4B53-8128-D05AE0A0B242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C2880FB-91FD-3458-A584-71A977803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97E3251-BAA1-0C91-D5EE-A2C9A09C5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C87C-F71B-4801-838E-533730621E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7782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0219F6-A463-3A33-0104-375B14AC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78202DE-A051-160B-7981-145148724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3C53300-D7F8-D14E-B53D-6618AF7B2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80442EC-FBD8-BBE5-826F-1A122BA405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74A328F-2F01-A573-909E-969E516B2C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245B36F-A18D-A414-0AE3-0E3171558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64AC-9C14-4B53-8128-D05AE0A0B242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FD7696E-567F-F123-6D5E-550D86F2F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E0FBECF-752E-63CF-B509-B39996F1E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C87C-F71B-4801-838E-533730621E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7897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70C050-72D2-D186-A6E4-1CAE6993E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BE8D810-BECC-D400-67E8-8A5C220DF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64AC-9C14-4B53-8128-D05AE0A0B242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36A844D-DC7C-6B93-5A2E-563D9C6E4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027C4CC-FFA0-F338-BA2F-4F44D8DD2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C87C-F71B-4801-838E-533730621E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428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9DF8058-58BC-A022-A88C-747969F47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64AC-9C14-4B53-8128-D05AE0A0B242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6F2E72D-F982-1D79-0B59-04EDF2E0E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A1B7F1-79AA-F508-2521-805F1C6B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C87C-F71B-4801-838E-533730621E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5985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3B4110-6BE4-2804-BBA8-B61BF0D17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9BF8DC-6A8D-B036-C6F2-BD4C54E2D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8E5706-D903-DA05-AAC6-1D228F0E3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018AE8A-29D0-4E68-D2D0-FE962939E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64AC-9C14-4B53-8128-D05AE0A0B242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22D0A9C-472F-BFBE-644C-1D3A0F49E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8D4B27B-11C0-6E12-4C19-78F8A7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C87C-F71B-4801-838E-533730621E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970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8FDB08-E4E6-8B9D-F53E-97C7DFA3A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045CDB2-BF28-E958-C8C1-04BB53DFD42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F8C0EFF-6C9E-12A7-A253-BC949B8C76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EA3C9AB-11E5-218A-8107-5BB387396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64AC-9C14-4B53-8128-D05AE0A0B242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3BF667E-7783-B6D9-FC3A-00FCC3B88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72A5A8-EC01-3515-713C-280185784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C87C-F71B-4801-838E-533730621E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2689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1B2F42-A8FF-26BD-FE5D-8DF5B301C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11002B6-4F9B-3F64-42E8-8D775E7E5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1341FF-A0CF-B49F-6512-00F990C82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64AC-9C14-4B53-8128-D05AE0A0B242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0BA181-80A5-C237-9786-A070329AE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F9F602-3485-AA4D-49CC-CA71282A6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C87C-F71B-4801-838E-533730621E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5647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5830ACB-B371-EBDE-BB5A-5987BB5934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B58D590-3AA1-AAB7-713F-58855954C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3CC525-22D7-A625-72CD-92387E969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64AC-9C14-4B53-8128-D05AE0A0B242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A1010D-0A5D-F4D6-4DD8-2E2D10A0E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BA1AAE-9638-43E7-B023-2DE598169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C87C-F71B-4801-838E-533730621E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6247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2103CD1-F71D-E02B-CED2-C093201F1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335E94-5D1E-9188-1A79-F646A2F4C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2358D0-BB7C-AAF2-4B55-F5AA4FBDC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8264AC-9C14-4B53-8128-D05AE0A0B242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AF922D-48D8-B37B-CED1-66C53675F7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3DBDB7-8A5A-DEAD-9987-EB019B6C67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F1C87C-F71B-4801-838E-533730621E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5823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A1396DE7-EA21-006D-0250-9D86F5730B55}"/>
              </a:ext>
            </a:extLst>
          </p:cNvPr>
          <p:cNvCxnSpPr/>
          <p:nvPr/>
        </p:nvCxnSpPr>
        <p:spPr>
          <a:xfrm>
            <a:off x="514350" y="1009650"/>
            <a:ext cx="1116330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E438D3B-DE15-0FC5-AB67-1673D75B03C5}"/>
              </a:ext>
            </a:extLst>
          </p:cNvPr>
          <p:cNvSpPr/>
          <p:nvPr/>
        </p:nvSpPr>
        <p:spPr>
          <a:xfrm>
            <a:off x="514350" y="4029075"/>
            <a:ext cx="541972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2FFB0FC-EDED-AA06-AB42-8A92F806264D}"/>
              </a:ext>
            </a:extLst>
          </p:cNvPr>
          <p:cNvSpPr/>
          <p:nvPr/>
        </p:nvSpPr>
        <p:spPr>
          <a:xfrm>
            <a:off x="514350" y="4714875"/>
            <a:ext cx="5419725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741A59D-BE2D-84F4-9314-FEDBB4A3E45C}"/>
              </a:ext>
            </a:extLst>
          </p:cNvPr>
          <p:cNvCxnSpPr/>
          <p:nvPr/>
        </p:nvCxnSpPr>
        <p:spPr>
          <a:xfrm>
            <a:off x="6257925" y="5457825"/>
            <a:ext cx="5419725" cy="0"/>
          </a:xfrm>
          <a:prstGeom prst="line">
            <a:avLst/>
          </a:prstGeom>
          <a:ln w="9525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FBE7F52-D58F-CFCA-98E2-E7B0A44BF7F9}"/>
              </a:ext>
            </a:extLst>
          </p:cNvPr>
          <p:cNvSpPr txBox="1"/>
          <p:nvPr/>
        </p:nvSpPr>
        <p:spPr>
          <a:xfrm>
            <a:off x="514350" y="457200"/>
            <a:ext cx="11163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4050"/>
              </a:lnSpc>
            </a:pPr>
            <a:r>
              <a:rPr kumimoji="1" lang="ja-JP" altLang="en-US" sz="2700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変更前：コンビニの入口制御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EDAE577-7136-264A-CCC1-8E2625CBE3A4}"/>
              </a:ext>
            </a:extLst>
          </p:cNvPr>
          <p:cNvSpPr txBox="1"/>
          <p:nvPr/>
        </p:nvSpPr>
        <p:spPr>
          <a:xfrm>
            <a:off x="514350" y="1238250"/>
            <a:ext cx="11163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700"/>
              </a:lnSpc>
            </a:pPr>
            <a:r>
              <a:rPr kumimoji="1" lang="ja-JP" altLang="en-US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人が来たら自動ドアを開ける。</a:t>
            </a:r>
            <a:r>
              <a:rPr kumimoji="1" lang="ja-JP" altLang="en-US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
さらに、</a:t>
            </a:r>
            <a:r>
              <a:rPr kumimoji="1" lang="ja-JP" altLang="en-US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夜に人が来たときだけチャイムを鳴らす。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2E68193-5D3B-6A52-B202-39F56843A3F5}"/>
              </a:ext>
            </a:extLst>
          </p:cNvPr>
          <p:cNvSpPr txBox="1"/>
          <p:nvPr/>
        </p:nvSpPr>
        <p:spPr>
          <a:xfrm>
            <a:off x="514350" y="2114550"/>
            <a:ext cx="54197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813"/>
              </a:lnSpc>
            </a:pPr>
            <a:r>
              <a:rPr kumimoji="1" lang="ja-JP" altLang="en-US" sz="1875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使える情報と動作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F88BE99-27A5-9262-024D-D366DB45BC4F}"/>
              </a:ext>
            </a:extLst>
          </p:cNvPr>
          <p:cNvSpPr txBox="1"/>
          <p:nvPr/>
        </p:nvSpPr>
        <p:spPr>
          <a:xfrm>
            <a:off x="514350" y="2647950"/>
            <a:ext cx="54197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700"/>
              </a:lnSpc>
            </a:pPr>
            <a:r>
              <a:rPr kumimoji="1" lang="ja-JP" altLang="en-US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入力：人の有無、昼／夜
出力：ドアの開閉、チャイムの鳴動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7F67240-1350-F0FB-CBB9-C28E0B9EE491}"/>
              </a:ext>
            </a:extLst>
          </p:cNvPr>
          <p:cNvSpPr txBox="1"/>
          <p:nvPr/>
        </p:nvSpPr>
        <p:spPr>
          <a:xfrm>
            <a:off x="514350" y="3552825"/>
            <a:ext cx="54197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813"/>
              </a:lnSpc>
            </a:pPr>
            <a:r>
              <a:rPr kumimoji="1" lang="ja-JP" altLang="en-US" sz="1875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条件と動作を組み合わせる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053FFB6-58ED-A7FB-5C7A-2BE893DBB0A6}"/>
              </a:ext>
            </a:extLst>
          </p:cNvPr>
          <p:cNvSpPr txBox="1"/>
          <p:nvPr/>
        </p:nvSpPr>
        <p:spPr>
          <a:xfrm>
            <a:off x="666750" y="4143375"/>
            <a:ext cx="51149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588"/>
              </a:lnSpc>
            </a:pPr>
            <a:r>
              <a:rPr kumimoji="1" lang="ja-JP" altLang="en-US" sz="1725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人がいる → ドアを開ける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65C9DDD-8559-13AB-FFCC-E2EADC6CAE86}"/>
              </a:ext>
            </a:extLst>
          </p:cNvPr>
          <p:cNvSpPr txBox="1"/>
          <p:nvPr/>
        </p:nvSpPr>
        <p:spPr>
          <a:xfrm>
            <a:off x="666750" y="4819650"/>
            <a:ext cx="51149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588"/>
              </a:lnSpc>
            </a:pPr>
            <a:r>
              <a:rPr kumimoji="1" lang="ja-JP" altLang="en-US" sz="1725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人がいる </a:t>
            </a:r>
            <a:r>
              <a:rPr kumimoji="1" lang="en-US" altLang="ja-JP" sz="1725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AND</a:t>
            </a:r>
            <a:r>
              <a:rPr kumimoji="1" lang="en-US" altLang="ja-JP" sz="1725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 </a:t>
            </a:r>
            <a:r>
              <a:rPr kumimoji="1" lang="ja-JP" altLang="en-US" sz="1725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夜である
→ チャイムを鳴らす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BF95B8A-FE61-176C-A2DB-8886EEC92E0E}"/>
              </a:ext>
            </a:extLst>
          </p:cNvPr>
          <p:cNvSpPr txBox="1"/>
          <p:nvPr/>
        </p:nvSpPr>
        <p:spPr>
          <a:xfrm>
            <a:off x="6257925" y="2114550"/>
            <a:ext cx="54197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813"/>
              </a:lnSpc>
            </a:pPr>
            <a:r>
              <a:rPr kumimoji="1" lang="ja-JP" altLang="en-US" sz="1875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確認する</a:t>
            </a:r>
            <a:r>
              <a:rPr kumimoji="1" lang="en-US" altLang="ja-JP" sz="1875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</a:t>
            </a:r>
            <a:r>
              <a:rPr kumimoji="1" lang="ja-JP" altLang="en-US" sz="1875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つの場面</a:t>
            </a:r>
          </a:p>
        </p:txBody>
      </p:sp>
      <p:graphicFrame>
        <p:nvGraphicFramePr>
          <p:cNvPr id="14" name="表 13">
            <a:extLst>
              <a:ext uri="{FF2B5EF4-FFF2-40B4-BE49-F238E27FC236}">
                <a16:creationId xmlns:a16="http://schemas.microsoft.com/office/drawing/2014/main" id="{C09E6F0E-71A0-E3D5-5430-6034E0299B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899294"/>
              </p:ext>
            </p:extLst>
          </p:nvPr>
        </p:nvGraphicFramePr>
        <p:xfrm>
          <a:off x="6257926" y="2609850"/>
          <a:ext cx="5419725" cy="2647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125">
                  <a:extLst>
                    <a:ext uri="{9D8B030D-6E8A-4147-A177-3AD203B41FA5}">
                      <a16:colId xmlns:a16="http://schemas.microsoft.com/office/drawing/2014/main" val="3899740668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3232958352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3078057314"/>
                    </a:ext>
                  </a:extLst>
                </a:gridCol>
              </a:tblGrid>
              <a:tr h="52959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725" b="1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場面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725" b="1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ドア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725" b="1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チャイム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78635"/>
                  </a:ext>
                </a:extLst>
              </a:tr>
              <a:tr h="52959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72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昼・人あり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72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開く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72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鳴らない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277685"/>
                  </a:ext>
                </a:extLst>
              </a:tr>
              <a:tr h="52959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72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昼・人なし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72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閉じる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72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鳴らない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153097"/>
                  </a:ext>
                </a:extLst>
              </a:tr>
              <a:tr h="52959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72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夜・人あり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72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開く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72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鳴る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363379"/>
                  </a:ext>
                </a:extLst>
              </a:tr>
              <a:tr h="52959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72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夜・人なし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72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閉じる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72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鳴らない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241956"/>
                  </a:ext>
                </a:extLst>
              </a:tr>
            </a:tbl>
          </a:graphicData>
        </a:graphic>
      </p:graphicFrame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00394F7-A86F-9D14-4E84-3C514C046B45}"/>
              </a:ext>
            </a:extLst>
          </p:cNvPr>
          <p:cNvSpPr txBox="1"/>
          <p:nvPr/>
        </p:nvSpPr>
        <p:spPr>
          <a:xfrm>
            <a:off x="6257925" y="5581650"/>
            <a:ext cx="54197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475"/>
              </a:lnSpc>
            </a:pPr>
            <a:r>
              <a:rPr kumimoji="1" lang="ja-JP" altLang="en-US" sz="1650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その場の</a:t>
            </a:r>
            <a:r>
              <a:rPr kumimoji="1" lang="en-US" altLang="ja-JP" sz="1650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r>
              <a:rPr kumimoji="1" lang="ja-JP" altLang="en-US" sz="1650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つの条件を見て判断する。
</a:t>
            </a:r>
            <a:r>
              <a:rPr kumimoji="1" lang="ja-JP" altLang="en-US" sz="1650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過去の状態を記憶する必要はない。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DC91F25-8432-C6A9-033B-C361588C9FC1}"/>
              </a:ext>
            </a:extLst>
          </p:cNvPr>
          <p:cNvSpPr txBox="1"/>
          <p:nvPr/>
        </p:nvSpPr>
        <p:spPr>
          <a:xfrm>
            <a:off x="11334750" y="6496050"/>
            <a:ext cx="342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1575"/>
              </a:lnSpc>
            </a:pPr>
            <a:r>
              <a:rPr kumimoji="1" lang="en-US" altLang="ja-JP" sz="1050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endParaRPr kumimoji="1" lang="ja-JP" altLang="en-US" sz="1050">
              <a:solidFill>
                <a:srgbClr val="11111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36493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031D3828-6426-4552-C533-56056655D5A1}"/>
              </a:ext>
            </a:extLst>
          </p:cNvPr>
          <p:cNvCxnSpPr/>
          <p:nvPr/>
        </p:nvCxnSpPr>
        <p:spPr>
          <a:xfrm>
            <a:off x="514350" y="1238250"/>
            <a:ext cx="1116330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8A8E298-3423-6CE4-B13F-A3851F33A351}"/>
              </a:ext>
            </a:extLst>
          </p:cNvPr>
          <p:cNvSpPr/>
          <p:nvPr/>
        </p:nvSpPr>
        <p:spPr>
          <a:xfrm>
            <a:off x="514350" y="2352675"/>
            <a:ext cx="3409950" cy="3762375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862DD58-812B-A6F1-D417-4D2BE1D6E676}"/>
              </a:ext>
            </a:extLst>
          </p:cNvPr>
          <p:cNvSpPr/>
          <p:nvPr/>
        </p:nvSpPr>
        <p:spPr>
          <a:xfrm>
            <a:off x="4133850" y="2352675"/>
            <a:ext cx="3924300" cy="3762375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C8139D0-9105-7DBD-1DE3-0622F36620E1}"/>
              </a:ext>
            </a:extLst>
          </p:cNvPr>
          <p:cNvSpPr/>
          <p:nvPr/>
        </p:nvSpPr>
        <p:spPr>
          <a:xfrm>
            <a:off x="8267700" y="2352675"/>
            <a:ext cx="3409950" cy="3762375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151695B3-81E3-BFA5-7686-B7B462848D17}"/>
              </a:ext>
            </a:extLst>
          </p:cNvPr>
          <p:cNvCxnSpPr/>
          <p:nvPr/>
        </p:nvCxnSpPr>
        <p:spPr>
          <a:xfrm>
            <a:off x="685800" y="2924175"/>
            <a:ext cx="3067050" cy="0"/>
          </a:xfrm>
          <a:prstGeom prst="line">
            <a:avLst/>
          </a:prstGeom>
          <a:ln w="9525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E2B62C24-0D7C-88BC-BF53-0451566D3719}"/>
              </a:ext>
            </a:extLst>
          </p:cNvPr>
          <p:cNvCxnSpPr/>
          <p:nvPr/>
        </p:nvCxnSpPr>
        <p:spPr>
          <a:xfrm>
            <a:off x="4305300" y="2924175"/>
            <a:ext cx="3581400" cy="0"/>
          </a:xfrm>
          <a:prstGeom prst="line">
            <a:avLst/>
          </a:prstGeom>
          <a:ln w="9525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A2D41BC-CBC2-3FBD-C3FC-FADB2FE646D5}"/>
              </a:ext>
            </a:extLst>
          </p:cNvPr>
          <p:cNvCxnSpPr/>
          <p:nvPr/>
        </p:nvCxnSpPr>
        <p:spPr>
          <a:xfrm>
            <a:off x="8439150" y="2924175"/>
            <a:ext cx="3067050" cy="0"/>
          </a:xfrm>
          <a:prstGeom prst="line">
            <a:avLst/>
          </a:prstGeom>
          <a:ln w="9525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1DFA6E4-C3AD-3F95-8E34-2765020065B3}"/>
              </a:ext>
            </a:extLst>
          </p:cNvPr>
          <p:cNvSpPr txBox="1"/>
          <p:nvPr/>
        </p:nvSpPr>
        <p:spPr>
          <a:xfrm>
            <a:off x="514350" y="685800"/>
            <a:ext cx="11163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4050"/>
              </a:lnSpc>
            </a:pPr>
            <a:r>
              <a:rPr kumimoji="1" lang="ja-JP" altLang="en-US" sz="2700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変更後：</a:t>
            </a:r>
            <a:r>
              <a:rPr kumimoji="1" lang="en-US" altLang="ja-JP" sz="2700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r>
              <a:rPr kumimoji="1" lang="ja-JP" altLang="en-US" sz="2700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室で共有する換気装置の制御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1D741D3-714F-6C26-E7EC-B3E707455EA4}"/>
              </a:ext>
            </a:extLst>
          </p:cNvPr>
          <p:cNvSpPr txBox="1"/>
          <p:nvPr/>
        </p:nvSpPr>
        <p:spPr>
          <a:xfrm>
            <a:off x="514350" y="1476375"/>
            <a:ext cx="11163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700"/>
              </a:lnSpc>
            </a:pPr>
            <a:r>
              <a:rPr kumimoji="1" lang="ja-JP" altLang="en-US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自習室</a:t>
            </a:r>
            <a:r>
              <a:rPr kumimoji="1" lang="en-US" altLang="ja-JP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</a:t>
            </a:r>
            <a:r>
              <a:rPr kumimoji="1" lang="ja-JP" altLang="en-US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</a:t>
            </a:r>
            <a:r>
              <a:rPr kumimoji="1" lang="en-US" altLang="ja-JP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B</a:t>
            </a:r>
            <a:r>
              <a:rPr kumimoji="1" lang="ja-JP" altLang="en-US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の</a:t>
            </a:r>
            <a:r>
              <a:rPr kumimoji="1" lang="ja-JP" altLang="en-US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人の有無と</a:t>
            </a:r>
            <a:r>
              <a:rPr kumimoji="1" lang="en-US" altLang="ja-JP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CO₂</a:t>
            </a:r>
            <a:r>
              <a:rPr kumimoji="1" lang="ja-JP" altLang="en-US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濃度</a:t>
            </a:r>
            <a:r>
              <a:rPr kumimoji="1" lang="ja-JP" altLang="en-US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を読み、</a:t>
            </a:r>
            <a:r>
              <a:rPr kumimoji="1" lang="en-US" altLang="ja-JP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r>
              <a:rPr kumimoji="1" lang="ja-JP" altLang="en-US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台の装置を制御する。
動作は</a:t>
            </a:r>
            <a:r>
              <a:rPr kumimoji="1" lang="ja-JP" altLang="en-US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「</a:t>
            </a:r>
            <a:r>
              <a:rPr kumimoji="1" lang="en-US" altLang="ja-JP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</a:t>
            </a:r>
            <a:r>
              <a:rPr kumimoji="1" lang="ja-JP" altLang="en-US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室を換気」「</a:t>
            </a:r>
            <a:r>
              <a:rPr kumimoji="1" lang="en-US" altLang="ja-JP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B</a:t>
            </a:r>
            <a:r>
              <a:rPr kumimoji="1" lang="ja-JP" altLang="en-US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室を換気」「停止」</a:t>
            </a:r>
            <a:r>
              <a:rPr kumimoji="1" lang="ja-JP" altLang="en-US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のいずれか。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CAE1303-35BB-C895-C00F-D78B898E760D}"/>
              </a:ext>
            </a:extLst>
          </p:cNvPr>
          <p:cNvSpPr txBox="1"/>
          <p:nvPr/>
        </p:nvSpPr>
        <p:spPr>
          <a:xfrm>
            <a:off x="685800" y="2505075"/>
            <a:ext cx="30670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700"/>
              </a:lnSpc>
            </a:pPr>
            <a:r>
              <a:rPr kumimoji="1" lang="ja-JP" altLang="en-US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① 数値で示す目的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F0400F9-AADB-93B1-E857-0C5C0C691FE6}"/>
              </a:ext>
            </a:extLst>
          </p:cNvPr>
          <p:cNvSpPr txBox="1"/>
          <p:nvPr/>
        </p:nvSpPr>
        <p:spPr>
          <a:xfrm>
            <a:off x="685800" y="3105150"/>
            <a:ext cx="30670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475"/>
              </a:lnSpc>
            </a:pPr>
            <a:r>
              <a:rPr kumimoji="1" lang="ja-JP" altLang="en-US" sz="1650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連続未対応は</a:t>
            </a:r>
            <a:r>
              <a:rPr kumimoji="1" lang="en-US" altLang="ja-JP" sz="1650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</a:t>
            </a:r>
            <a:r>
              <a:rPr kumimoji="1" lang="ja-JP" altLang="en-US" sz="1650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ステップ以内</a:t>
            </a:r>
            <a:r>
              <a:rPr kumimoji="1" lang="ja-JP" altLang="en-US" sz="1650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
有人・</a:t>
            </a:r>
            <a:r>
              <a:rPr kumimoji="1" lang="en-US" altLang="ja-JP" sz="1650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1,000ppm</a:t>
            </a:r>
            <a:r>
              <a:rPr kumimoji="1" lang="ja-JP" altLang="en-US" sz="1650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以上が対象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0BE8D49-DF7E-470E-F7B1-74F1BFB04681}"/>
              </a:ext>
            </a:extLst>
          </p:cNvPr>
          <p:cNvSpPr txBox="1"/>
          <p:nvPr/>
        </p:nvSpPr>
        <p:spPr>
          <a:xfrm>
            <a:off x="685800" y="3867150"/>
            <a:ext cx="30670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475"/>
              </a:lnSpc>
            </a:pPr>
            <a:r>
              <a:rPr kumimoji="1" lang="ja-JP" altLang="en-US" sz="1650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不要な運転は</a:t>
            </a:r>
            <a:r>
              <a:rPr kumimoji="1" lang="en-US" altLang="ja-JP" sz="1650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</a:t>
            </a:r>
            <a:r>
              <a:rPr kumimoji="1" lang="ja-JP" altLang="en-US" sz="1650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回</a:t>
            </a:r>
            <a:r>
              <a:rPr kumimoji="1" lang="ja-JP" altLang="en-US" sz="1650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
無人室・</a:t>
            </a:r>
            <a:r>
              <a:rPr kumimoji="1" lang="en-US" altLang="ja-JP" sz="1650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800ppm</a:t>
            </a:r>
            <a:r>
              <a:rPr kumimoji="1" lang="ja-JP" altLang="en-US" sz="1650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以下への運転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4B93E36-376B-288A-4C70-718BF0628761}"/>
              </a:ext>
            </a:extLst>
          </p:cNvPr>
          <p:cNvSpPr txBox="1"/>
          <p:nvPr/>
        </p:nvSpPr>
        <p:spPr>
          <a:xfrm>
            <a:off x="685800" y="4629149"/>
            <a:ext cx="306705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475"/>
              </a:lnSpc>
            </a:pPr>
            <a:r>
              <a:rPr kumimoji="1" lang="ja-JP" altLang="en-US" sz="1650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改善目標：高濃度への対応</a:t>
            </a:r>
            <a:r>
              <a:rPr kumimoji="1" lang="ja-JP" altLang="en-US" sz="1650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
</a:t>
            </a:r>
            <a:r>
              <a:rPr kumimoji="1" lang="en-US" altLang="ja-JP" sz="1425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1,500ppm</a:t>
            </a:r>
            <a:r>
              <a:rPr kumimoji="1" lang="ja-JP" altLang="en-US" sz="1425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以上の未対応時間を
同じ入力で修正前より減らす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3E21216-128C-E6CE-81F4-0CDC97BAB55D}"/>
              </a:ext>
            </a:extLst>
          </p:cNvPr>
          <p:cNvSpPr txBox="1"/>
          <p:nvPr/>
        </p:nvSpPr>
        <p:spPr>
          <a:xfrm>
            <a:off x="4305300" y="2505075"/>
            <a:ext cx="358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700"/>
              </a:lnSpc>
            </a:pPr>
            <a:r>
              <a:rPr kumimoji="1" lang="ja-JP" altLang="en-US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② 装置の制限：違反</a:t>
            </a:r>
            <a:r>
              <a:rPr kumimoji="1" lang="en-US" altLang="ja-JP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</a:t>
            </a:r>
            <a:r>
              <a:rPr kumimoji="1" lang="ja-JP" altLang="en-US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回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5783BF7-C47D-1059-4074-1DCF1C3353E6}"/>
              </a:ext>
            </a:extLst>
          </p:cNvPr>
          <p:cNvSpPr txBox="1"/>
          <p:nvPr/>
        </p:nvSpPr>
        <p:spPr>
          <a:xfrm>
            <a:off x="4305300" y="3105150"/>
            <a:ext cx="358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475"/>
              </a:lnSpc>
            </a:pPr>
            <a:r>
              <a:rPr kumimoji="1" lang="ja-JP" altLang="en-US" sz="1650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装置は</a:t>
            </a:r>
            <a:r>
              <a:rPr kumimoji="1" lang="en-US" altLang="ja-JP" sz="1650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r>
              <a:rPr kumimoji="1" lang="ja-JP" altLang="en-US" sz="1650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台</a:t>
            </a:r>
            <a:r>
              <a:rPr kumimoji="1" lang="ja-JP" altLang="en-US" sz="1650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
両室の同時換気はできない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FBF6A4D-4ED2-4F82-6F75-F355C28A07A1}"/>
              </a:ext>
            </a:extLst>
          </p:cNvPr>
          <p:cNvSpPr txBox="1"/>
          <p:nvPr/>
        </p:nvSpPr>
        <p:spPr>
          <a:xfrm>
            <a:off x="4305300" y="3867150"/>
            <a:ext cx="358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475"/>
              </a:lnSpc>
            </a:pPr>
            <a:r>
              <a:rPr kumimoji="1" lang="en-US" altLang="ja-JP" sz="1650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r>
              <a:rPr kumimoji="1" lang="ja-JP" altLang="en-US" sz="1650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ステップ連続で運転</a:t>
            </a:r>
            <a:r>
              <a:rPr kumimoji="1" lang="ja-JP" altLang="en-US" sz="1650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
→ 次の</a:t>
            </a:r>
            <a:r>
              <a:rPr kumimoji="1" lang="en-US" altLang="ja-JP" sz="1650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r>
              <a:rPr kumimoji="1" lang="ja-JP" altLang="en-US" sz="1650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ステップは停止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84E31C2-014A-2D0A-7D2E-8A1D6F7519F4}"/>
              </a:ext>
            </a:extLst>
          </p:cNvPr>
          <p:cNvSpPr txBox="1"/>
          <p:nvPr/>
        </p:nvSpPr>
        <p:spPr>
          <a:xfrm>
            <a:off x="4305300" y="4629150"/>
            <a:ext cx="358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475"/>
              </a:lnSpc>
            </a:pPr>
            <a:r>
              <a:rPr kumimoji="1" lang="ja-JP" altLang="en-US" sz="1650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別室への切り替え</a:t>
            </a:r>
            <a:r>
              <a:rPr kumimoji="1" lang="ja-JP" altLang="en-US" sz="1650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
→ 間に</a:t>
            </a:r>
            <a:r>
              <a:rPr kumimoji="1" lang="en-US" altLang="ja-JP" sz="1650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r>
              <a:rPr kumimoji="1" lang="ja-JP" altLang="en-US" sz="1650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ステップ停止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0BD1846-7E71-6EF3-E995-159AC793DE6F}"/>
              </a:ext>
            </a:extLst>
          </p:cNvPr>
          <p:cNvSpPr txBox="1"/>
          <p:nvPr/>
        </p:nvSpPr>
        <p:spPr>
          <a:xfrm>
            <a:off x="4305300" y="5391150"/>
            <a:ext cx="358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475"/>
              </a:lnSpc>
            </a:pPr>
            <a:r>
              <a:rPr kumimoji="1" lang="ja-JP" altLang="en-US" sz="1650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点検中は必ず停止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6C634AC-9554-C905-983E-17B2E6BA8B2A}"/>
              </a:ext>
            </a:extLst>
          </p:cNvPr>
          <p:cNvSpPr txBox="1"/>
          <p:nvPr/>
        </p:nvSpPr>
        <p:spPr>
          <a:xfrm>
            <a:off x="8439150" y="2505075"/>
            <a:ext cx="30670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700"/>
              </a:lnSpc>
            </a:pPr>
            <a:r>
              <a:rPr kumimoji="1" lang="ja-JP" altLang="en-US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③ 学習者が考えること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9C0A9B8-41E4-0916-5469-14A2AA4EFC17}"/>
              </a:ext>
            </a:extLst>
          </p:cNvPr>
          <p:cNvSpPr txBox="1"/>
          <p:nvPr/>
        </p:nvSpPr>
        <p:spPr>
          <a:xfrm>
            <a:off x="8439150" y="3105150"/>
            <a:ext cx="30670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475"/>
              </a:lnSpc>
            </a:pPr>
            <a:r>
              <a:rPr kumimoji="1" lang="ja-JP" altLang="en-US" sz="1650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換気を始める・終える条件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2C40D7E-A175-9848-EEDC-D762983D26C8}"/>
              </a:ext>
            </a:extLst>
          </p:cNvPr>
          <p:cNvSpPr txBox="1"/>
          <p:nvPr/>
        </p:nvSpPr>
        <p:spPr>
          <a:xfrm>
            <a:off x="8439150" y="3829050"/>
            <a:ext cx="30670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475"/>
              </a:lnSpc>
            </a:pPr>
            <a:r>
              <a:rPr kumimoji="1" lang="ja-JP" altLang="en-US" sz="1650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どちらの部屋を優先するか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F28927B-02AB-578F-885E-7EF77A6E0DFB}"/>
              </a:ext>
            </a:extLst>
          </p:cNvPr>
          <p:cNvSpPr txBox="1"/>
          <p:nvPr/>
        </p:nvSpPr>
        <p:spPr>
          <a:xfrm>
            <a:off x="8439150" y="4552950"/>
            <a:ext cx="30670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475"/>
              </a:lnSpc>
            </a:pPr>
            <a:r>
              <a:rPr kumimoji="1" lang="ja-JP" altLang="en-US" sz="1650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前回の状態や待ち時間を</a:t>
            </a:r>
            <a:r>
              <a:rPr kumimoji="1" lang="ja-JP" altLang="en-US" sz="1650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
</a:t>
            </a:r>
            <a:r>
              <a:rPr kumimoji="1" lang="ja-JP" altLang="en-US" sz="1650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どのように使うか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8286A6F-E3E2-605D-8C52-323EDC71EE17}"/>
              </a:ext>
            </a:extLst>
          </p:cNvPr>
          <p:cNvSpPr txBox="1"/>
          <p:nvPr/>
        </p:nvSpPr>
        <p:spPr>
          <a:xfrm>
            <a:off x="8439150" y="5372100"/>
            <a:ext cx="30670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138"/>
              </a:lnSpc>
            </a:pPr>
            <a:r>
              <a:rPr kumimoji="1" lang="ja-JP" altLang="en-US" sz="1425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条件や優先順位を自分で設計し、判断の理由を説明する。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DB5160F-D015-366D-226F-9F1DCD4FC4EA}"/>
              </a:ext>
            </a:extLst>
          </p:cNvPr>
          <p:cNvSpPr txBox="1"/>
          <p:nvPr/>
        </p:nvSpPr>
        <p:spPr>
          <a:xfrm>
            <a:off x="11334750" y="6496050"/>
            <a:ext cx="342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1575"/>
              </a:lnSpc>
            </a:pPr>
            <a:r>
              <a:rPr kumimoji="1" lang="en-US" altLang="ja-JP" sz="1050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endParaRPr kumimoji="1" lang="ja-JP" altLang="en-US" sz="1050">
              <a:solidFill>
                <a:srgbClr val="11111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70862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2E862C72-74B9-0735-B82A-BF035254CC24}"/>
              </a:ext>
            </a:extLst>
          </p:cNvPr>
          <p:cNvCxnSpPr/>
          <p:nvPr/>
        </p:nvCxnSpPr>
        <p:spPr>
          <a:xfrm>
            <a:off x="514350" y="1409700"/>
            <a:ext cx="1116330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AA96614-0E85-B8A6-3201-BD5353CE1136}"/>
              </a:ext>
            </a:extLst>
          </p:cNvPr>
          <p:cNvSpPr/>
          <p:nvPr/>
        </p:nvSpPr>
        <p:spPr>
          <a:xfrm>
            <a:off x="514350" y="4114800"/>
            <a:ext cx="11163300" cy="20193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6F7CE24-07FA-E79B-6472-F3625D43E542}"/>
              </a:ext>
            </a:extLst>
          </p:cNvPr>
          <p:cNvSpPr txBox="1"/>
          <p:nvPr/>
        </p:nvSpPr>
        <p:spPr>
          <a:xfrm>
            <a:off x="514350" y="857250"/>
            <a:ext cx="11163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4050"/>
              </a:lnSpc>
            </a:pPr>
            <a:r>
              <a:rPr kumimoji="1" lang="ja-JP" altLang="en-US" sz="2700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難しくした点：過去の状態と優先順位も考える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6AC23F81-B1D1-C4D2-29AE-1D2C46108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697798"/>
              </p:ext>
            </p:extLst>
          </p:nvPr>
        </p:nvGraphicFramePr>
        <p:xfrm>
          <a:off x="514350" y="1619250"/>
          <a:ext cx="11163300" cy="2333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700">
                  <a:extLst>
                    <a:ext uri="{9D8B030D-6E8A-4147-A177-3AD203B41FA5}">
                      <a16:colId xmlns:a16="http://schemas.microsoft.com/office/drawing/2014/main" val="760198616"/>
                    </a:ext>
                  </a:extLst>
                </a:gridCol>
                <a:gridCol w="3571875">
                  <a:extLst>
                    <a:ext uri="{9D8B030D-6E8A-4147-A177-3AD203B41FA5}">
                      <a16:colId xmlns:a16="http://schemas.microsoft.com/office/drawing/2014/main" val="986973463"/>
                    </a:ext>
                  </a:extLst>
                </a:gridCol>
                <a:gridCol w="5800725">
                  <a:extLst>
                    <a:ext uri="{9D8B030D-6E8A-4147-A177-3AD203B41FA5}">
                      <a16:colId xmlns:a16="http://schemas.microsoft.com/office/drawing/2014/main" val="1547937314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75" b="1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観点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75" b="1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変更前：コンビニ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zh-TW" altLang="en-US" sz="1575" b="1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変更後：換気</a:t>
                      </a:r>
                      <a:endParaRPr kumimoji="1" lang="ja-JP" altLang="en-US" sz="1575" b="1">
                        <a:solidFill>
                          <a:srgbClr val="111111"/>
                        </a:solidFill>
                        <a:latin typeface="Yu Gothic" panose="020B0400000000000000" pitchFamily="50" charset="-128"/>
                        <a:ea typeface="Yu Gothic" panose="020B0400000000000000" pitchFamily="50" charset="-128"/>
                      </a:endParaRP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795815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7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入力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7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人の有無・昼夜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en-US" altLang="ja-JP" sz="157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</a:t>
                      </a:r>
                      <a:r>
                        <a:rPr kumimoji="1" lang="ja-JP" altLang="en-US" sz="157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室の人の有無・濃度・点検モード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56092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7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覚える状態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7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なし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7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換気要求・待ち時間・前回動作・連続運転数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00914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7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判断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7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真偽値と</a:t>
                      </a:r>
                      <a:r>
                        <a:rPr kumimoji="1" lang="en-US" altLang="ja-JP" sz="157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AND</a:t>
                      </a:r>
                      <a:r>
                        <a:rPr kumimoji="1" lang="ja-JP" altLang="en-US" sz="157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条件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7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数値・履歴を使い、条件と優先方針を設計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68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7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検証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7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昼夜 </a:t>
                      </a:r>
                      <a:r>
                        <a:rPr kumimoji="1" lang="en-US" altLang="ja-JP" sz="157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× </a:t>
                      </a:r>
                      <a:r>
                        <a:rPr kumimoji="1" lang="ja-JP" altLang="en-US" sz="157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人の有無の</a:t>
                      </a:r>
                      <a:r>
                        <a:rPr kumimoji="1" lang="en-US" altLang="ja-JP" sz="157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4</a:t>
                      </a:r>
                      <a:r>
                        <a:rPr kumimoji="1" lang="ja-JP" altLang="en-US" sz="157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場面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75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数値基準の達成と修正前後の未対応時間を比較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845796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A237985-038B-63AA-40C9-D261661FC94F}"/>
              </a:ext>
            </a:extLst>
          </p:cNvPr>
          <p:cNvSpPr txBox="1"/>
          <p:nvPr/>
        </p:nvSpPr>
        <p:spPr>
          <a:xfrm>
            <a:off x="685800" y="42672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588"/>
              </a:lnSpc>
            </a:pPr>
            <a:r>
              <a:rPr kumimoji="1" lang="ja-JP" altLang="en-US" sz="1725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例：濃度が高い部屋への対応と、他室の待ち時間が競合したら？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6744310-A4AD-400C-5CDF-4F69680C5946}"/>
              </a:ext>
            </a:extLst>
          </p:cNvPr>
          <p:cNvSpPr txBox="1"/>
          <p:nvPr/>
        </p:nvSpPr>
        <p:spPr>
          <a:xfrm>
            <a:off x="685800" y="4743450"/>
            <a:ext cx="5238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588"/>
              </a:lnSpc>
            </a:pPr>
            <a:r>
              <a:rPr kumimoji="1" lang="ja-JP" altLang="en-US" sz="1725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濃度を重視する案</a:t>
            </a:r>
            <a:r>
              <a:rPr kumimoji="1" lang="ja-JP" altLang="en-US" sz="1725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
もう一方を待たせすぎないか？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1BF0D18-CEC9-11B4-634C-634CD62A30E1}"/>
              </a:ext>
            </a:extLst>
          </p:cNvPr>
          <p:cNvSpPr txBox="1"/>
          <p:nvPr/>
        </p:nvSpPr>
        <p:spPr>
          <a:xfrm>
            <a:off x="6191250" y="4743450"/>
            <a:ext cx="53149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588"/>
              </a:lnSpc>
            </a:pPr>
            <a:r>
              <a:rPr kumimoji="1" lang="ja-JP" altLang="en-US" sz="1725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待ち時間を重視する案</a:t>
            </a:r>
            <a:r>
              <a:rPr kumimoji="1" lang="ja-JP" altLang="en-US" sz="1725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
高い濃度への対応は十分か？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97FCD96-CF0F-1E7D-1A4E-7F17B4ADB829}"/>
              </a:ext>
            </a:extLst>
          </p:cNvPr>
          <p:cNvSpPr txBox="1"/>
          <p:nvPr/>
        </p:nvSpPr>
        <p:spPr>
          <a:xfrm>
            <a:off x="685800" y="561975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2138"/>
              </a:lnSpc>
            </a:pPr>
            <a:r>
              <a:rPr kumimoji="1" lang="ja-JP" altLang="en-US" sz="1425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未対応</a:t>
            </a:r>
            <a:r>
              <a:rPr kumimoji="1" lang="en-US" altLang="ja-JP" sz="1425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</a:t>
            </a:r>
            <a:r>
              <a:rPr kumimoji="1" lang="ja-JP" altLang="en-US" sz="1425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ステップ以内・不要な運転</a:t>
            </a:r>
            <a:r>
              <a:rPr kumimoji="1" lang="en-US" altLang="ja-JP" sz="1425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</a:t>
            </a:r>
            <a:r>
              <a:rPr kumimoji="1" lang="ja-JP" altLang="en-US" sz="1425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回・制約違反</a:t>
            </a:r>
            <a:r>
              <a:rPr kumimoji="1" lang="en-US" altLang="ja-JP" sz="1425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</a:t>
            </a:r>
            <a:r>
              <a:rPr kumimoji="1" lang="ja-JP" altLang="en-US" sz="1425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回を満たす条件を設計し、改善と判断の根拠を比較する。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984A969-A8C6-DB8F-C64C-FF835D126D5D}"/>
              </a:ext>
            </a:extLst>
          </p:cNvPr>
          <p:cNvSpPr txBox="1"/>
          <p:nvPr/>
        </p:nvSpPr>
        <p:spPr>
          <a:xfrm>
            <a:off x="11334750" y="6496050"/>
            <a:ext cx="342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1575"/>
              </a:lnSpc>
            </a:pPr>
            <a:r>
              <a:rPr kumimoji="1" lang="en-US" altLang="ja-JP" sz="1050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endParaRPr kumimoji="1" lang="ja-JP" altLang="en-US" sz="1050">
              <a:solidFill>
                <a:srgbClr val="11111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55046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55899A8-8E78-47E2-E168-9B6E75EF5660}"/>
              </a:ext>
            </a:extLst>
          </p:cNvPr>
          <p:cNvSpPr txBox="1"/>
          <p:nvPr/>
        </p:nvSpPr>
        <p:spPr>
          <a:xfrm>
            <a:off x="514350" y="457200"/>
            <a:ext cx="11163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700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実験の時間配分：全体</a:t>
            </a:r>
            <a:r>
              <a:rPr kumimoji="1" lang="en-US" altLang="ja-JP" sz="2700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90</a:t>
            </a:r>
            <a:r>
              <a:rPr kumimoji="1" lang="ja-JP" altLang="en-US" sz="2700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分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2737A843-4975-2D79-5F01-040C03B144BE}"/>
              </a:ext>
            </a:extLst>
          </p:cNvPr>
          <p:cNvCxnSpPr/>
          <p:nvPr/>
        </p:nvCxnSpPr>
        <p:spPr>
          <a:xfrm>
            <a:off x="514350" y="1009650"/>
            <a:ext cx="1116330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00F30C7-1F56-78B6-FF51-6CC4651542C9}"/>
              </a:ext>
            </a:extLst>
          </p:cNvPr>
          <p:cNvSpPr txBox="1"/>
          <p:nvPr/>
        </p:nvSpPr>
        <p:spPr>
          <a:xfrm>
            <a:off x="514350" y="1238250"/>
            <a:ext cx="11163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課題本体</a:t>
            </a:r>
            <a:r>
              <a:rPr kumimoji="1" lang="en-US" altLang="ja-JP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60</a:t>
            </a:r>
            <a:r>
              <a:rPr kumimoji="1" lang="ja-JP" altLang="en-US" b="1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分 </a:t>
            </a:r>
            <a:r>
              <a:rPr kumimoji="1" lang="ja-JP" altLang="en-US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＋ 説明・アンケート</a:t>
            </a:r>
            <a:r>
              <a:rPr kumimoji="1" lang="en-US" altLang="ja-JP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20</a:t>
            </a:r>
            <a:r>
              <a:rPr kumimoji="1" lang="ja-JP" altLang="en-US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分 ＋ 予備時間</a:t>
            </a:r>
            <a:r>
              <a:rPr kumimoji="1" lang="en-US" altLang="ja-JP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10</a:t>
            </a:r>
            <a:r>
              <a:rPr kumimoji="1" lang="ja-JP" altLang="en-US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分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C8A72997-B3F8-85E0-7476-12563B4748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934069"/>
              </p:ext>
            </p:extLst>
          </p:nvPr>
        </p:nvGraphicFramePr>
        <p:xfrm>
          <a:off x="514350" y="1828800"/>
          <a:ext cx="111633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8990">
                  <a:extLst>
                    <a:ext uri="{9D8B030D-6E8A-4147-A177-3AD203B41FA5}">
                      <a16:colId xmlns:a16="http://schemas.microsoft.com/office/drawing/2014/main" val="2309172058"/>
                    </a:ext>
                  </a:extLst>
                </a:gridCol>
                <a:gridCol w="1116330">
                  <a:extLst>
                    <a:ext uri="{9D8B030D-6E8A-4147-A177-3AD203B41FA5}">
                      <a16:colId xmlns:a16="http://schemas.microsoft.com/office/drawing/2014/main" val="1407368485"/>
                    </a:ext>
                  </a:extLst>
                </a:gridCol>
                <a:gridCol w="6697981">
                  <a:extLst>
                    <a:ext uri="{9D8B030D-6E8A-4147-A177-3AD203B41FA5}">
                      <a16:colId xmlns:a16="http://schemas.microsoft.com/office/drawing/2014/main" val="477552556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00" b="1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内容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00" b="1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時間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00" b="1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主な活動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76362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事前アンケート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en-US" altLang="ja-JP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5</a:t>
                      </a:r>
                      <a:r>
                        <a:rPr kumimoji="1" lang="ja-JP" altLang="en-US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分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実験前の回答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3514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課題・操作説明、練習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en-US" altLang="ja-JP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10</a:t>
                      </a:r>
                      <a:r>
                        <a:rPr kumimoji="1" lang="ja-JP" altLang="en-US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分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目的・制限の確認、画面操作の練習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69208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① </a:t>
                      </a:r>
                      <a:r>
                        <a:rPr kumimoji="1" lang="en-US" altLang="ja-JP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</a:t>
                      </a:r>
                      <a:r>
                        <a:rPr kumimoji="1" lang="ja-JP" altLang="en-US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人で考える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en-US" altLang="ja-JP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15</a:t>
                      </a:r>
                      <a:r>
                        <a:rPr kumimoji="1" lang="ja-JP" altLang="en-US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分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条件と優先方針を考え、最初のプログラムを作る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01111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② ペアで対話する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en-US" altLang="ja-JP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10</a:t>
                      </a:r>
                      <a:r>
                        <a:rPr kumimoji="1" lang="ja-JP" altLang="en-US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分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en-US" altLang="ja-JP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AI</a:t>
                      </a:r>
                      <a:r>
                        <a:rPr kumimoji="1" lang="ja-JP" altLang="en-US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に判断理由を説明し、見落とした場面を考える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737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③ 実行して確認する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en-US" altLang="ja-JP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20</a:t>
                      </a:r>
                      <a:r>
                        <a:rPr kumimoji="1" lang="ja-JP" altLang="en-US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分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予想と結果を比較し、複数シナリオで検証・修正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62664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④ 全体で対話する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en-US" altLang="ja-JP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15</a:t>
                      </a:r>
                      <a:r>
                        <a:rPr kumimoji="1" lang="ja-JP" altLang="en-US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分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他の案と比較し、最終修正と振り返りを行う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29921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事後アンケート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en-US" altLang="ja-JP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5</a:t>
                      </a:r>
                      <a:r>
                        <a:rPr kumimoji="1" lang="ja-JP" altLang="en-US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分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実験後の回答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00145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予備時間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en-US" altLang="ja-JP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10</a:t>
                      </a:r>
                      <a:r>
                        <a:rPr kumimoji="1" lang="ja-JP" altLang="en-US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分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00" b="0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操作のつまずき・進行調整への対応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53153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00" b="1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合計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en-US" altLang="ja-JP" sz="1500" b="1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90</a:t>
                      </a:r>
                      <a:r>
                        <a:rPr kumimoji="1" lang="ja-JP" altLang="en-US" sz="1500" b="1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分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1" lang="ja-JP" altLang="en-US" sz="1500" b="1">
                          <a:solidFill>
                            <a:srgbClr val="111111"/>
                          </a:solidFill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操作説明・事前事後アンケート・予備時間を含む</a:t>
                      </a:r>
                    </a:p>
                  </a:txBody>
                  <a:tcPr marL="133350" marR="133350" marT="57150" marB="57150" anchor="ctr">
                    <a:lnL w="9525" cmpd="sng">
                      <a:solidFill>
                        <a:srgbClr val="AAAAAA"/>
                      </a:solidFill>
                    </a:lnL>
                    <a:lnR w="9525" cmpd="sng">
                      <a:solidFill>
                        <a:srgbClr val="AAAAAA"/>
                      </a:solidFill>
                    </a:lnR>
                    <a:lnT w="9525" cmpd="sng">
                      <a:solidFill>
                        <a:srgbClr val="AAAAAA"/>
                      </a:solidFill>
                    </a:lnT>
                    <a:lnB w="9525" cmpd="sng">
                      <a:solidFill>
                        <a:srgbClr val="AAAAAA"/>
                      </a:solidFill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139196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63891C7-543E-7282-E57D-86E1F7D0B351}"/>
              </a:ext>
            </a:extLst>
          </p:cNvPr>
          <p:cNvSpPr txBox="1"/>
          <p:nvPr/>
        </p:nvSpPr>
        <p:spPr>
          <a:xfrm>
            <a:off x="11334750" y="6496050"/>
            <a:ext cx="34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050">
                <a:solidFill>
                  <a:srgbClr val="11111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</a:t>
            </a:r>
            <a:endParaRPr kumimoji="1" lang="ja-JP" altLang="en-US" sz="1050">
              <a:solidFill>
                <a:srgbClr val="11111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79207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668</Words>
  <Application>Microsoft Office PowerPoint</Application>
  <PresentationFormat>ワイド画面</PresentationFormat>
  <Paragraphs>96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游ゴシック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shigure.tk1090@gmail.com</dc:creator>
  <cp:lastModifiedBy>shigure.tk1090@gmail.com</cp:lastModifiedBy>
  <cp:revision>3</cp:revision>
  <dcterms:created xsi:type="dcterms:W3CDTF">2026-10-04T09:08:57Z</dcterms:created>
  <dcterms:modified xsi:type="dcterms:W3CDTF">2026-10-07T09:42:30Z</dcterms:modified>
</cp:coreProperties>
</file>